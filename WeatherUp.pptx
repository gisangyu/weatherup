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5CFF"/>
    <a:srgbClr val="699FFF"/>
    <a:srgbClr val="E5EEFF"/>
    <a:srgbClr val="A8C8FF"/>
    <a:srgbClr val="4A9EFF"/>
    <a:srgbClr val="1C2B3A"/>
    <a:srgbClr val="FFB800"/>
    <a:srgbClr val="DDE9FF"/>
    <a:srgbClr val="93C4FF"/>
    <a:srgbClr val="BAC4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2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341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63BDE-6681-CFD0-33EB-4C6AC9CA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0BEBF-824B-4E05-681D-ACE1D0121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723EA-99C0-D73C-EFA8-F1F27A9A6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4676D-89C8-1D2E-BF71-68FA3462D1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75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0" y="-365760"/>
            <a:ext cx="3474720" cy="3017520"/>
          </a:xfrm>
          <a:prstGeom prst="hexagon">
            <a:avLst/>
          </a:prstGeom>
          <a:solidFill>
            <a:srgbClr val="EBF0FF"/>
          </a:solidFill>
          <a:ln w="19050">
            <a:solidFill>
              <a:srgbClr val="EBF0F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32320" y="274320"/>
            <a:ext cx="1828800" cy="1581912"/>
          </a:xfrm>
          <a:prstGeom prst="hexagon">
            <a:avLst/>
          </a:prstGeom>
          <a:solidFill>
            <a:srgbClr val="EEF0FC"/>
          </a:solidFill>
          <a:ln w="19050">
            <a:solidFill>
              <a:srgbClr val="EEF0F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56032"/>
            <a:ext cx="475488" cy="411480"/>
          </a:xfrm>
          <a:prstGeom prst="hexagon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25603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</a:t>
            </a:r>
            <a:endParaRPr 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8992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2D3AC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WEATHER UP</a:t>
            </a:r>
            <a:endParaRPr lang="en-US" sz="1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8343" y="96012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 err="1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날씨로</a:t>
            </a:r>
            <a:r>
              <a:rPr lang="en-US" sz="38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sz="3800" b="1" dirty="0" err="1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완성하는</a:t>
            </a:r>
            <a:endParaRPr lang="en-US" sz="3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 err="1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하루의</a:t>
            </a:r>
            <a:r>
              <a:rPr lang="en-US" sz="38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sz="3800" b="1" dirty="0" err="1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라이프스타일</a:t>
            </a:r>
            <a:endParaRPr lang="en-US" sz="3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8343" y="2944368"/>
            <a:ext cx="1280160" cy="36576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8343" y="312724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날씨를 UI 모드로 활용해 패션 · 음식 · 액티비티를 큐레이션하는</a:t>
            </a:r>
            <a:endParaRPr lang="en-US" sz="13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인터랙티브 React 라이프스타일 웹 서비스</a:t>
            </a:r>
            <a:endParaRPr lang="en-US" sz="13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8343" y="4224528"/>
            <a:ext cx="2011680" cy="475488"/>
          </a:xfrm>
          <a:prstGeom prst="rect">
            <a:avLst/>
          </a:prstGeom>
          <a:solidFill>
            <a:srgbClr val="2D3AC8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8343" y="4224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 1  ·  중간고사</a:t>
            </a:r>
            <a:endParaRPr lang="en-US" sz="1200" dirty="0"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24887" y="422452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898B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→</a:t>
            </a:r>
            <a:endParaRPr 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945511" y="4224528"/>
            <a:ext cx="20116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945511" y="4224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AC8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 2  ·  기말고사</a:t>
            </a:r>
            <a:endParaRPr lang="en-US" sz="1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01</a:t>
            </a:r>
            <a:endParaRPr lang="en-US" sz="9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목  차</a:t>
            </a:r>
            <a:endParaRPr 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01168" y="2144268"/>
            <a:ext cx="4206240" cy="50292"/>
          </a:xfrm>
          <a:prstGeom prst="rect">
            <a:avLst/>
          </a:prstGeom>
          <a:solidFill>
            <a:srgbClr val="2D3AC8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57200" cy="393192"/>
          </a:xfrm>
          <a:prstGeom prst="hexagon">
            <a:avLst/>
          </a:prstGeom>
          <a:solidFill>
            <a:srgbClr val="FFFFFF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0976" y="116128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프로젝트 개요</a:t>
            </a:r>
            <a:endParaRPr 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50976" y="1581912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What is Weather Up?</a:t>
            </a:r>
            <a:endParaRPr lang="en-US" sz="105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81728" y="9601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681728" y="2144268"/>
            <a:ext cx="4206240" cy="50292"/>
          </a:xfrm>
          <a:prstGeom prst="rect">
            <a:avLst/>
          </a:prstGeom>
          <a:solidFill>
            <a:srgbClr val="2D3AC8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457200" cy="393192"/>
          </a:xfrm>
          <a:prstGeom prst="hexagon">
            <a:avLst/>
          </a:prstGeom>
          <a:solidFill>
            <a:srgbClr val="FFFFFF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46320" y="1188720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>
              <a:solidFill>
                <a:srgbClr val="2D3AC8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31536" y="116128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Phase 1 — 중간고사</a:t>
            </a:r>
            <a:endParaRPr 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31536" y="1581912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날씨 버튼 · 테마 전환 · 정적 데이터</a:t>
            </a:r>
            <a:endParaRPr lang="en-US" sz="105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1168" y="231343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01168" y="3497580"/>
            <a:ext cx="4206240" cy="50292"/>
          </a:xfrm>
          <a:prstGeom prst="rect">
            <a:avLst/>
          </a:prstGeom>
          <a:solidFill>
            <a:srgbClr val="2D3AC8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57200" cy="393192"/>
          </a:xfrm>
          <a:prstGeom prst="hexagon">
            <a:avLst/>
          </a:prstGeom>
          <a:solidFill>
            <a:srgbClr val="FFFFFF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2542032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>
              <a:solidFill>
                <a:srgbClr val="2D3AC8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50976" y="2514600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테마 클래스 시스템</a:t>
            </a:r>
            <a:endParaRPr 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0976" y="2935224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className</a:t>
            </a:r>
            <a:r>
              <a:rPr lang="en-US" sz="105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기반 전체 테마 전환</a:t>
            </a:r>
            <a:endParaRPr lang="en-US" sz="105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81728" y="231343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681728" y="3497580"/>
            <a:ext cx="4206240" cy="50292"/>
          </a:xfrm>
          <a:prstGeom prst="rect">
            <a:avLst/>
          </a:prstGeom>
          <a:solidFill>
            <a:srgbClr val="2D3AC8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846320" y="2542032"/>
            <a:ext cx="457200" cy="393192"/>
          </a:xfrm>
          <a:prstGeom prst="hexagon">
            <a:avLst/>
          </a:prstGeom>
          <a:solidFill>
            <a:srgbClr val="FFFFFF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46320" y="2542032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>
              <a:solidFill>
                <a:srgbClr val="2D3AC8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31536" y="2514600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컴포넌트 구조</a:t>
            </a:r>
            <a:endParaRPr 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31536" y="2935224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App · Layout · Pages · 상태 흐름</a:t>
            </a:r>
            <a:endParaRPr lang="en-US" sz="105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01168" y="366674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01168" y="4850892"/>
            <a:ext cx="4206240" cy="50292"/>
          </a:xfrm>
          <a:prstGeom prst="rect">
            <a:avLst/>
          </a:prstGeom>
          <a:solidFill>
            <a:srgbClr val="2D3AC8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65760" y="3895344"/>
            <a:ext cx="457200" cy="393192"/>
          </a:xfrm>
          <a:prstGeom prst="hexagon">
            <a:avLst/>
          </a:prstGeom>
          <a:solidFill>
            <a:srgbClr val="FFFFFF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65760" y="3895344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>
              <a:solidFill>
                <a:srgbClr val="2D3AC8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50976" y="386791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Phase 2 — 기말고사</a:t>
            </a:r>
            <a:endParaRPr 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50976" y="4288536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API 연동 · 7일 예보 · 위치 기반</a:t>
            </a:r>
            <a:endParaRPr lang="en-US" sz="105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681728" y="366674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681728" y="4850892"/>
            <a:ext cx="4206240" cy="50292"/>
          </a:xfrm>
          <a:prstGeom prst="rect">
            <a:avLst/>
          </a:prstGeom>
          <a:solidFill>
            <a:srgbClr val="9B59B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846320" y="3895344"/>
            <a:ext cx="457200" cy="393192"/>
          </a:xfrm>
          <a:prstGeom prst="hexagon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46320" y="3895344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>
              <a:solidFill>
                <a:srgbClr val="9B59B6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5431536" y="386791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Tech Stack &amp; 결론</a:t>
            </a:r>
            <a:endParaRPr 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431536" y="4288536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React · API · Libraries</a:t>
            </a:r>
            <a:endParaRPr lang="en-US" sz="105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14400"/>
            <a:ext cx="8741664" cy="74980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  <a:effectLst>
            <a:outerShdw blurRad="203200" dist="50800" dir="8100000" algn="bl" rotWithShape="0">
              <a:srgbClr val="2D3AC8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256032" y="932688"/>
            <a:ext cx="658368" cy="566928"/>
          </a:xfrm>
          <a:prstGeom prst="hexagon">
            <a:avLst/>
          </a:prstGeom>
          <a:solidFill>
            <a:srgbClr val="3D4DD8"/>
          </a:solidFill>
          <a:ln w="12700">
            <a:solidFill>
              <a:srgbClr val="3D4D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24128" y="9144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C5FF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날씨를 UI 모드로 활용해 </a:t>
            </a:r>
            <a:r>
              <a:rPr lang="en-US" sz="1300" b="1" dirty="0">
                <a:solidFill>
                  <a:srgbClr val="FFFFFF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하루의 라이프스타일을 큐레이션</a:t>
            </a:r>
            <a:r>
              <a:rPr lang="en-US" sz="1300" dirty="0">
                <a:solidFill>
                  <a:srgbClr val="BDC5FF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하는 인터랙티브 웹 서비스</a:t>
            </a:r>
            <a:endParaRPr lang="en-US" sz="13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1168" y="1828800"/>
            <a:ext cx="2798064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01168" y="1828800"/>
            <a:ext cx="2798064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52728" y="2029968"/>
            <a:ext cx="694944" cy="603504"/>
          </a:xfrm>
          <a:prstGeom prst="hexagon">
            <a:avLst/>
          </a:prstGeom>
          <a:solidFill>
            <a:srgbClr val="FEE9E7"/>
          </a:solidFill>
          <a:ln w="19050">
            <a:solidFill>
              <a:srgbClr val="FE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52728" y="2029968"/>
            <a:ext cx="69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" y="2761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문제 정의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3218688"/>
            <a:ext cx="188366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65760" y="34640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기존 날씨 앱은 정보 제공에서 끝남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377647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날씨↔실제 행동 선택의 연결 부재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" y="4110665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옷·음식·활동을 따로 고민해야 함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163824" y="1828800"/>
            <a:ext cx="2798064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163824" y="1828800"/>
            <a:ext cx="27980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215384" y="2029968"/>
            <a:ext cx="694944" cy="603504"/>
          </a:xfrm>
          <a:prstGeom prst="hexagon">
            <a:avLst/>
          </a:prstGeom>
          <a:solidFill>
            <a:srgbClr val="FEF3C7"/>
          </a:solidFill>
          <a:ln w="1905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215384" y="2029968"/>
            <a:ext cx="69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28416" y="2761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해결 방향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21024" y="3218688"/>
            <a:ext cx="188366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328416" y="34640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날씨를 기준으로 하루를 통합 제안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28416" y="377647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정보→행동·감성까지 연결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28416" y="4110665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UI 자체가 날씨 기반으로 변화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26480" y="1828800"/>
            <a:ext cx="2798064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126480" y="1828800"/>
            <a:ext cx="2798064" cy="54864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178040" y="2029968"/>
            <a:ext cx="694944" cy="603504"/>
          </a:xfrm>
          <a:prstGeom prst="hexagon">
            <a:avLst/>
          </a:prstGeom>
          <a:solidFill>
            <a:srgbClr val="EBF0FF"/>
          </a:solidFill>
          <a:ln w="19050">
            <a:solidFill>
              <a:srgbClr val="EBF0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178040" y="2029968"/>
            <a:ext cx="694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91072" y="2761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차별성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0" y="3218688"/>
            <a:ext cx="188366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291072" y="34640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</a:t>
            </a:r>
            <a:r>
              <a:rPr lang="en-US" sz="1100" dirty="0" err="1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className</a:t>
            </a: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기반 전체 테마 전환 시스템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91072" y="377647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패션·음식·액티비티 통합 큐레이션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291072" y="4110665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중간→기말 단계적 컴포넌트 확장</a:t>
            </a:r>
            <a:endParaRPr lang="en-US" sz="11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27432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0" dirty="0"/>
          </a:p>
        </p:txBody>
      </p:sp>
      <p:sp>
        <p:nvSpPr>
          <p:cNvPr id="4" name="Shape 2"/>
          <p:cNvSpPr/>
          <p:nvPr/>
        </p:nvSpPr>
        <p:spPr>
          <a:xfrm>
            <a:off x="201168" y="384048"/>
            <a:ext cx="658368" cy="566928"/>
          </a:xfrm>
          <a:prstGeom prst="hexag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01168" y="3840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43891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9E0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PHASE 1  /  중간고사</a:t>
            </a:r>
            <a:endParaRPr lang="en-US" sz="13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" y="111556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Mode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01168" y="22677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 없이 날씨 테마 전환 시스템과 컴포넌트 구조 완성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1168" y="2788920"/>
            <a:ext cx="320040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01168" y="3035808"/>
            <a:ext cx="2011680" cy="713232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01168" y="30358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  맑음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14016" y="3035808"/>
            <a:ext cx="2011680" cy="713232"/>
          </a:xfrm>
          <a:prstGeom prst="rect">
            <a:avLst/>
          </a:prstGeom>
          <a:solidFill>
            <a:srgbClr val="F0F0F4"/>
          </a:solidFill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14016" y="30358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  흐림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26864" y="3035808"/>
            <a:ext cx="2011680" cy="713232"/>
          </a:xfrm>
          <a:prstGeom prst="rect">
            <a:avLst/>
          </a:prstGeom>
          <a:solidFill>
            <a:srgbClr val="EBF0FF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26864" y="30358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🌧  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39712" y="3035808"/>
            <a:ext cx="2011680" cy="713232"/>
          </a:xfrm>
          <a:prstGeom prst="rect">
            <a:avLst/>
          </a:prstGeom>
          <a:solidFill>
            <a:srgbClr val="EEF0FF"/>
          </a:solidFill>
          <a:ln w="19050">
            <a:solidFill>
              <a:srgbClr val="6B7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39712" y="303580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❄  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 1  ·  중간고사 구현 목표</a:t>
            </a:r>
            <a:endParaRPr 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1051560"/>
            <a:ext cx="438912" cy="384048"/>
          </a:xfrm>
          <a:prstGeom prst="hexagon">
            <a:avLst/>
          </a:prstGeom>
          <a:solidFill>
            <a:srgbClr val="699FFF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01168" y="10515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68096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날씨 선택 버튼 4개</a:t>
            </a:r>
            <a:endParaRPr lang="en-US" sz="13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8096" y="1280163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맑음 / 흐림 / 비 / 눈 — 상단 4개 버튼</a:t>
            </a:r>
          </a:p>
        </p:txBody>
      </p:sp>
      <p:sp>
        <p:nvSpPr>
          <p:cNvPr id="10" name="Shape 8"/>
          <p:cNvSpPr/>
          <p:nvPr/>
        </p:nvSpPr>
        <p:spPr>
          <a:xfrm>
            <a:off x="201168" y="1856232"/>
            <a:ext cx="438912" cy="384048"/>
          </a:xfrm>
          <a:prstGeom prst="hexagon">
            <a:avLst/>
          </a:prstGeom>
          <a:solidFill>
            <a:srgbClr val="699FFF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01168" y="185623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096" y="17647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날씨 상태 관리</a:t>
            </a:r>
            <a:endParaRPr lang="en-US" sz="13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096" y="2084835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50" dirty="0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App</a:t>
            </a:r>
            <a:r>
              <a:rPr lang="ko-KR" altLang="en-US" sz="950" dirty="0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의 </a:t>
            </a:r>
            <a:r>
              <a:rPr lang="en-US" altLang="ko-KR" sz="950" dirty="0" err="1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useState</a:t>
            </a:r>
            <a:r>
              <a:rPr lang="ko-KR" altLang="en-US" sz="950" dirty="0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로 </a:t>
            </a:r>
            <a:r>
              <a:rPr lang="en-US" altLang="ko-KR" sz="950" dirty="0" err="1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weatherMode</a:t>
            </a:r>
            <a:r>
              <a:rPr lang="en-US" altLang="ko-KR" sz="950" dirty="0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ko-KR" altLang="en-US" sz="950" dirty="0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관리</a:t>
            </a:r>
            <a:endParaRPr lang="en-US" sz="950" dirty="0">
              <a:solidFill>
                <a:schemeClr val="bg2">
                  <a:lumMod val="25000"/>
                </a:scheme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01168" y="2660904"/>
            <a:ext cx="438912" cy="384048"/>
          </a:xfrm>
          <a:prstGeom prst="hexagon">
            <a:avLst/>
          </a:prstGeom>
          <a:solidFill>
            <a:srgbClr val="699FFF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01168" y="266090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096" y="25694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classList</a:t>
            </a:r>
            <a:r>
              <a:rPr lang="en-US" sz="13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1300" b="1" dirty="0" err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테마</a:t>
            </a:r>
            <a:r>
              <a:rPr lang="en-US" sz="13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1300" b="1" dirty="0" err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전환</a:t>
            </a:r>
            <a:endParaRPr lang="en-US" sz="13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8096" y="2915631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50" dirty="0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React </a:t>
            </a:r>
            <a:r>
              <a:rPr lang="en-US" altLang="ko-KR" sz="950" dirty="0" err="1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className</a:t>
            </a:r>
            <a:r>
              <a:rPr lang="en-US" altLang="ko-KR" sz="950" dirty="0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ko-KR" altLang="en-US" sz="950" dirty="0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기반으로 전체 테마 변경</a:t>
            </a:r>
            <a:endParaRPr lang="en-US" sz="950" dirty="0">
              <a:solidFill>
                <a:schemeClr val="bg2">
                  <a:lumMod val="25000"/>
                </a:schemeClr>
              </a:solidFill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1168" y="3465576"/>
            <a:ext cx="438912" cy="384048"/>
          </a:xfrm>
          <a:prstGeom prst="hexagon">
            <a:avLst/>
          </a:prstGeom>
          <a:solidFill>
            <a:srgbClr val="699FFF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01168" y="346557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" y="33741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정적 데이터 콘텐츠</a:t>
            </a:r>
            <a:endParaRPr lang="en-US" sz="13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8096" y="3694179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weatherData.js 하드코딩</a:t>
            </a:r>
          </a:p>
        </p:txBody>
      </p:sp>
      <p:sp>
        <p:nvSpPr>
          <p:cNvPr id="22" name="Shape 20"/>
          <p:cNvSpPr/>
          <p:nvPr/>
        </p:nvSpPr>
        <p:spPr>
          <a:xfrm>
            <a:off x="201168" y="4270248"/>
            <a:ext cx="438912" cy="384048"/>
          </a:xfrm>
          <a:prstGeom prst="hexagon">
            <a:avLst/>
          </a:prstGeom>
          <a:solidFill>
            <a:srgbClr val="699FFF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01168" y="427024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8096" y="41788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5개 페이지 구성</a:t>
            </a:r>
            <a:endParaRPr lang="en-US" sz="13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8096" y="4498851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Home · OOTD · Food · Activity · About</a:t>
            </a:r>
          </a:p>
        </p:txBody>
      </p:sp>
      <p:sp>
        <p:nvSpPr>
          <p:cNvPr id="26" name="Shape 24"/>
          <p:cNvSpPr/>
          <p:nvPr/>
        </p:nvSpPr>
        <p:spPr>
          <a:xfrm>
            <a:off x="5029200" y="960120"/>
            <a:ext cx="22860" cy="393192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257800" y="960120"/>
            <a:ext cx="3474720" cy="658368"/>
          </a:xfrm>
          <a:prstGeom prst="rect">
            <a:avLst/>
          </a:prstGeom>
          <a:solidFill>
            <a:srgbClr val="015CFF"/>
          </a:solidFill>
          <a:ln w="12700">
            <a:solidFill>
              <a:srgbClr val="16162A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257800" y="9601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웹사이트 접속</a:t>
            </a:r>
            <a:endParaRPr lang="en-US" sz="13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257800" y="1965960"/>
            <a:ext cx="3474720" cy="658368"/>
          </a:xfrm>
          <a:prstGeom prst="rect">
            <a:avLst/>
          </a:prstGeom>
          <a:solidFill>
            <a:srgbClr val="699FFF"/>
          </a:solidFill>
          <a:ln w="12700">
            <a:noFill/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257800" y="19659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날씨 버튼 클릭 (4개)</a:t>
            </a:r>
            <a:endParaRPr lang="en-US" sz="13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257800" y="2971800"/>
            <a:ext cx="3474720" cy="658368"/>
          </a:xfrm>
          <a:prstGeom prst="rect">
            <a:avLst/>
          </a:prstGeom>
          <a:solidFill>
            <a:srgbClr val="A8C8FF"/>
          </a:solidFill>
          <a:ln w="12700">
            <a:solidFill>
              <a:srgbClr val="015C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257800" y="29718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테마 클래스 전환 + 콘텐츠</a:t>
            </a:r>
            <a:endParaRPr lang="en-US" sz="13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257800" y="3977640"/>
            <a:ext cx="3474720" cy="658368"/>
          </a:xfrm>
          <a:prstGeom prst="rect">
            <a:avLst/>
          </a:prstGeom>
          <a:solidFill>
            <a:srgbClr val="E5EEFF"/>
          </a:solidFill>
          <a:ln w="12700">
            <a:noFill/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257800" y="39776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2">
                    <a:lumMod val="10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서브페이지 상세 확인</a:t>
            </a:r>
            <a:endParaRPr lang="en-US" sz="1300" dirty="0">
              <a:solidFill>
                <a:schemeClr val="bg2">
                  <a:lumMod val="10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A60842EE-704A-B7F6-593D-89E42D1C0992}"/>
              </a:ext>
            </a:extLst>
          </p:cNvPr>
          <p:cNvSpPr/>
          <p:nvPr/>
        </p:nvSpPr>
        <p:spPr>
          <a:xfrm>
            <a:off x="6902548" y="1618488"/>
            <a:ext cx="1852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▼</a:t>
            </a:r>
            <a:endParaRPr lang="en-US" sz="1300" dirty="0">
              <a:solidFill>
                <a:schemeClr val="accent3">
                  <a:lumMod val="60000"/>
                  <a:lumOff val="40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96A4BFF1-D129-61E1-D840-F2B1E3C2B02D}"/>
              </a:ext>
            </a:extLst>
          </p:cNvPr>
          <p:cNvSpPr/>
          <p:nvPr/>
        </p:nvSpPr>
        <p:spPr>
          <a:xfrm>
            <a:off x="6902548" y="2624328"/>
            <a:ext cx="1852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▼</a:t>
            </a:r>
            <a:endParaRPr lang="en-US" sz="1300" dirty="0">
              <a:solidFill>
                <a:schemeClr val="accent3">
                  <a:lumMod val="60000"/>
                  <a:lumOff val="40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B185C418-6258-3E0E-9D44-5AB2760439A2}"/>
              </a:ext>
            </a:extLst>
          </p:cNvPr>
          <p:cNvSpPr/>
          <p:nvPr/>
        </p:nvSpPr>
        <p:spPr>
          <a:xfrm>
            <a:off x="6902548" y="3630168"/>
            <a:ext cx="1852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▼</a:t>
            </a:r>
            <a:endParaRPr lang="en-US" sz="1300" dirty="0">
              <a:solidFill>
                <a:schemeClr val="accent3">
                  <a:lumMod val="60000"/>
                  <a:lumOff val="40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0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테마 클래스 시스템 </a:t>
            </a:r>
            <a:r>
              <a:rPr lang="en-US" altLang="ko-KR" sz="20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— React </a:t>
            </a:r>
            <a:r>
              <a:rPr lang="en-US" altLang="ko-KR" sz="20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className</a:t>
            </a:r>
            <a:r>
              <a:rPr lang="en-US" altLang="ko-KR" sz="20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20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기반 전체 테마 전환</a:t>
            </a:r>
            <a:endParaRPr 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32688"/>
            <a:ext cx="2084832" cy="2488692"/>
          </a:xfrm>
          <a:prstGeom prst="rect">
            <a:avLst/>
          </a:prstGeom>
          <a:solidFill>
            <a:srgbClr val="EEF6FF"/>
          </a:solidFill>
          <a:ln w="25400">
            <a:solidFill>
              <a:srgbClr val="FFB80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201168" y="932688"/>
            <a:ext cx="2084832" cy="5029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87552" y="1024128"/>
            <a:ext cx="512064" cy="5120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☀</a:t>
            </a:r>
          </a:p>
        </p:txBody>
      </p:sp>
      <p:sp>
        <p:nvSpPr>
          <p:cNvPr id="10" name="Text 8"/>
          <p:cNvSpPr/>
          <p:nvPr/>
        </p:nvSpPr>
        <p:spPr>
          <a:xfrm>
            <a:off x="201168" y="15544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맑음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956816"/>
            <a:ext cx="1755648" cy="32918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195681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.theme-sunny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0896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밝은 배경, </a:t>
            </a: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활기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찬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0896" y="303167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80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--bg: #EEF6FF</a:t>
            </a:r>
          </a:p>
        </p:txBody>
      </p:sp>
      <p:sp>
        <p:nvSpPr>
          <p:cNvPr id="15" name="Shape 13"/>
          <p:cNvSpPr/>
          <p:nvPr/>
        </p:nvSpPr>
        <p:spPr>
          <a:xfrm>
            <a:off x="2414016" y="932688"/>
            <a:ext cx="2084832" cy="2488692"/>
          </a:xfrm>
          <a:prstGeom prst="rect">
            <a:avLst/>
          </a:prstGeom>
          <a:solidFill>
            <a:srgbClr val="F4F4F4"/>
          </a:solidFill>
          <a:ln w="25400">
            <a:solidFill>
              <a:srgbClr val="8A9BB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414016" y="932688"/>
            <a:ext cx="2084832" cy="50292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 descr="푸른 하늘에 솜털 같은 구름"/>
          <p:cNvSpPr/>
          <p:nvPr/>
        </p:nvSpPr>
        <p:spPr>
          <a:xfrm>
            <a:off x="3200400" y="1024128"/>
            <a:ext cx="512064" cy="512064"/>
          </a:xfrm>
          <a:prstGeom prst="ellipse">
            <a:avLst/>
          </a:prstGeom>
          <a:solidFill>
            <a:srgbClr val="BAC4D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0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☁</a:t>
            </a:r>
          </a:p>
        </p:txBody>
      </p:sp>
      <p:sp>
        <p:nvSpPr>
          <p:cNvPr id="19" name="Text 17"/>
          <p:cNvSpPr/>
          <p:nvPr/>
        </p:nvSpPr>
        <p:spPr>
          <a:xfrm>
            <a:off x="2414016" y="15544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흐림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578608" y="1956816"/>
            <a:ext cx="1755648" cy="329184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578608" y="195681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.theme-cloudy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23744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저채도 회색, </a:t>
            </a: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차분한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23744" y="303167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--bg: #F4F4F4</a:t>
            </a:r>
          </a:p>
        </p:txBody>
      </p:sp>
      <p:sp>
        <p:nvSpPr>
          <p:cNvPr id="24" name="Shape 22"/>
          <p:cNvSpPr/>
          <p:nvPr/>
        </p:nvSpPr>
        <p:spPr>
          <a:xfrm>
            <a:off x="4626864" y="932688"/>
            <a:ext cx="2084832" cy="2488692"/>
          </a:xfrm>
          <a:prstGeom prst="rect">
            <a:avLst/>
          </a:prstGeom>
          <a:solidFill>
            <a:srgbClr val="1C2B3A"/>
          </a:solidFill>
          <a:ln w="25400">
            <a:solidFill>
              <a:srgbClr val="4A9E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626864" y="932688"/>
            <a:ext cx="2084832" cy="5029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413248" y="1024128"/>
            <a:ext cx="512064" cy="512064"/>
          </a:xfrm>
          <a:prstGeom prst="ellipse">
            <a:avLst/>
          </a:prstGeom>
          <a:solidFill>
            <a:srgbClr val="93C4FF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13248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🌧</a:t>
            </a:r>
          </a:p>
        </p:txBody>
      </p:sp>
      <p:sp>
        <p:nvSpPr>
          <p:cNvPr id="28" name="Text 26"/>
          <p:cNvSpPr/>
          <p:nvPr/>
        </p:nvSpPr>
        <p:spPr>
          <a:xfrm>
            <a:off x="4626864" y="15544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791456" y="1956816"/>
            <a:ext cx="1755648" cy="32918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791456" y="195681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.theme-rainy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36592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8A9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다크 모드, Glassmorphism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36592" y="303167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E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--bg: #1C2B3A</a:t>
            </a:r>
          </a:p>
        </p:txBody>
      </p:sp>
      <p:sp>
        <p:nvSpPr>
          <p:cNvPr id="33" name="Shape 31"/>
          <p:cNvSpPr/>
          <p:nvPr/>
        </p:nvSpPr>
        <p:spPr>
          <a:xfrm>
            <a:off x="6839712" y="932688"/>
            <a:ext cx="2084832" cy="2488692"/>
          </a:xfrm>
          <a:prstGeom prst="rect">
            <a:avLst/>
          </a:prstGeom>
          <a:solidFill>
            <a:srgbClr val="EAF0FF"/>
          </a:solidFill>
          <a:ln w="25400">
            <a:solidFill>
              <a:srgbClr val="A8C8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839712" y="932688"/>
            <a:ext cx="2084832" cy="502920"/>
          </a:xfrm>
          <a:prstGeom prst="rect">
            <a:avLst/>
          </a:prstGeom>
          <a:solidFill>
            <a:srgbClr val="A8C8FF"/>
          </a:solidFill>
          <a:ln w="12700">
            <a:solidFill>
              <a:srgbClr val="A8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626096" y="1024128"/>
            <a:ext cx="512064" cy="512064"/>
          </a:xfrm>
          <a:prstGeom prst="ellipse">
            <a:avLst/>
          </a:prstGeom>
          <a:solidFill>
            <a:srgbClr val="699FFF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626096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❄</a:t>
            </a:r>
          </a:p>
        </p:txBody>
      </p:sp>
      <p:sp>
        <p:nvSpPr>
          <p:cNvPr id="37" name="Text 35"/>
          <p:cNvSpPr/>
          <p:nvPr/>
        </p:nvSpPr>
        <p:spPr>
          <a:xfrm>
            <a:off x="6839712" y="15544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눈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04304" y="1956816"/>
            <a:ext cx="1755648" cy="329184"/>
          </a:xfrm>
          <a:prstGeom prst="rect">
            <a:avLst/>
          </a:prstGeom>
          <a:solidFill>
            <a:srgbClr val="A8C8FF"/>
          </a:solidFill>
          <a:ln w="12700">
            <a:solidFill>
              <a:srgbClr val="A8C8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004304" y="195681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.theme-snowy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49440" y="23774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화이트/연블루, 겨울 감성</a:t>
            </a:r>
          </a:p>
        </p:txBody>
      </p:sp>
      <p:sp>
        <p:nvSpPr>
          <p:cNvPr id="41" name="Text 39"/>
          <p:cNvSpPr/>
          <p:nvPr/>
        </p:nvSpPr>
        <p:spPr>
          <a:xfrm>
            <a:off x="6949440" y="303167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--bg: #EAF0FF</a:t>
            </a:r>
          </a:p>
        </p:txBody>
      </p:sp>
      <p:sp>
        <p:nvSpPr>
          <p:cNvPr id="42" name="Shape 40"/>
          <p:cNvSpPr/>
          <p:nvPr/>
        </p:nvSpPr>
        <p:spPr>
          <a:xfrm>
            <a:off x="201168" y="3528060"/>
            <a:ext cx="8741664" cy="1505712"/>
          </a:xfrm>
          <a:prstGeom prst="rect">
            <a:avLst/>
          </a:prstGeom>
          <a:solidFill>
            <a:srgbClr val="16162A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69379E-8391-A213-F196-2909F8AA44E4}"/>
              </a:ext>
            </a:extLst>
          </p:cNvPr>
          <p:cNvSpPr txBox="1"/>
          <p:nvPr/>
        </p:nvSpPr>
        <p:spPr>
          <a:xfrm>
            <a:off x="275463" y="3616452"/>
            <a:ext cx="4606290" cy="1337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weatherMode</a:t>
            </a:r>
            <a:r>
              <a:rPr lang="en-US" altLang="ko-KR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setWeatherMode</a:t>
            </a:r>
            <a:r>
              <a:rPr lang="en-US" altLang="ko-KR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altLang="ko-KR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'sunny'</a:t>
            </a:r>
            <a:r>
              <a:rPr lang="en-US" altLang="ko-KR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altLang="ko-KR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`app theme-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ko-KR" sz="10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weatherMode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ko-KR" sz="10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...</a:t>
            </a:r>
            <a:endParaRPr lang="en-US" altLang="ko-KR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0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컴포넌트 구조  —  App 트리 및 상태 흐름</a:t>
            </a:r>
            <a:endParaRPr 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46120" y="960120"/>
            <a:ext cx="2651760" cy="530352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  <a:effectLst>
            <a:outerShdw blurRad="203200" dist="50800" dir="8100000" algn="bl" rotWithShape="0">
              <a:srgbClr val="2D3AC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46120" y="9601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 —  WeatherUp </a:t>
            </a:r>
            <a:r>
              <a:rPr lang="ko-KR" alt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상태관리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246120" y="1536192"/>
            <a:ext cx="265176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46120" y="15361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props</a:t>
            </a:r>
            <a:r>
              <a:rPr lang="ko-KR" altLang="en-US" sz="800" dirty="0">
                <a:solidFill>
                  <a:srgbClr val="5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필요한 컴포넌트에 전달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62856" y="1737360"/>
            <a:ext cx="22860" cy="201168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0" y="1938528"/>
            <a:ext cx="1828800" cy="457200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0" y="1938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6189" y="2633472"/>
            <a:ext cx="1691640" cy="420624"/>
          </a:xfrm>
          <a:prstGeom prst="rect">
            <a:avLst/>
          </a:prstGeom>
          <a:solidFill>
            <a:srgbClr val="6B78E0"/>
          </a:solidFill>
          <a:ln w="12700">
            <a:solidFill>
              <a:srgbClr val="6B78E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96189" y="26334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42009" y="2395728"/>
            <a:ext cx="22860" cy="237744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682850" y="2633472"/>
            <a:ext cx="1691640" cy="420624"/>
          </a:xfrm>
          <a:prstGeom prst="rect">
            <a:avLst/>
          </a:prstGeom>
          <a:solidFill>
            <a:srgbClr val="6B78E0"/>
          </a:solidFill>
          <a:ln w="12700">
            <a:solidFill>
              <a:srgbClr val="6B78E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682850" y="26334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WeatherSelector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28670" y="2395728"/>
            <a:ext cx="22860" cy="237744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769510" y="2633472"/>
            <a:ext cx="1691640" cy="420624"/>
          </a:xfrm>
          <a:prstGeom prst="rect">
            <a:avLst/>
          </a:prstGeom>
          <a:solidFill>
            <a:srgbClr val="6B78E0"/>
          </a:solidFill>
          <a:ln w="12700">
            <a:solidFill>
              <a:srgbClr val="6B78E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69510" y="26334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HamburgerMenu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15330" y="2395728"/>
            <a:ext cx="22860" cy="237744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56171" y="2633472"/>
            <a:ext cx="1691640" cy="420624"/>
          </a:xfrm>
          <a:prstGeom prst="rect">
            <a:avLst/>
          </a:prstGeom>
          <a:solidFill>
            <a:srgbClr val="6B78E0"/>
          </a:solidFill>
          <a:ln w="12700">
            <a:solidFill>
              <a:srgbClr val="6B78E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856171" y="26334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01991" y="2395728"/>
            <a:ext cx="22860" cy="237744"/>
          </a:xfrm>
          <a:prstGeom prst="rect">
            <a:avLst/>
          </a:prstGeom>
          <a:solidFill>
            <a:srgbClr val="9898B0"/>
          </a:solidFill>
          <a:ln w="12700">
            <a:solidFill>
              <a:srgbClr val="9898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86512" y="3273552"/>
            <a:ext cx="164592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86512" y="3273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HomePage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9664" y="3822192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59664" y="38221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WeatherHero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59664" y="4224528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59664" y="42245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SectionPreviewCard ×3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17776" y="3273552"/>
            <a:ext cx="164592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017776" y="3273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OOTDPage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90928" y="3822192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090928" y="38221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StyleKeywordTags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90928" y="4224528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2090928" y="42245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OutfitCardList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749040" y="3273552"/>
            <a:ext cx="164592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3749040" y="3273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FoodPage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22192" y="3822192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822192" y="38221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FoodKeywords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822192" y="4224528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822192" y="42245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RestaurantCardList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0304" y="3273552"/>
            <a:ext cx="164592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480304" y="3273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ActivityPage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53456" y="3822192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553456" y="38221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ActivityFilter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53456" y="4224528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553456" y="42245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ActivityCardList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211568" y="3273552"/>
            <a:ext cx="164592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211568" y="32735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AboutPage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284720" y="3822192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7284720" y="38221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ProjectIntro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284720" y="4224528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7284720" y="42245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TechFlow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정적 데이터 구조  —  src/data/weatherData.js</a:t>
            </a:r>
            <a:endParaRPr 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4983480" cy="3886200"/>
          </a:xfrm>
          <a:prstGeom prst="rect">
            <a:avLst/>
          </a:prstGeom>
          <a:solidFill>
            <a:srgbClr val="16162A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47472" y="106984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8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src/data/weatherData.js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76672" y="96012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376672" y="960120"/>
            <a:ext cx="640080" cy="11887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68112" y="14310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👗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153912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fashion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53912" y="13898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message — 추천 메시지</a:t>
            </a:r>
            <a:endParaRPr lang="en-US" sz="10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53912" y="16184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keywords — 스타일 키워드</a:t>
            </a:r>
            <a:endParaRPr lang="en-US" sz="10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153912" y="18470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badges — </a:t>
            </a:r>
            <a:r>
              <a:rPr lang="en-US" sz="1000" dirty="0" err="1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준비물</a:t>
            </a:r>
            <a:r>
              <a:rPr lang="en-US" sz="10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en-US" sz="1000" dirty="0" err="1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뱃지</a:t>
            </a:r>
            <a:r>
              <a:rPr lang="en-US" sz="10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ex)</a:t>
            </a:r>
            <a:r>
              <a:rPr lang="ko-KR" altLang="en-US" sz="10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우산</a:t>
            </a:r>
            <a:endParaRPr lang="en-US" sz="10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376672" y="2258568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376672" y="2258568"/>
            <a:ext cx="640080" cy="1188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468112" y="27249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🍜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153912" y="2350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53912" y="27340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message — 음식 추천 문구</a:t>
            </a:r>
            <a:endParaRPr lang="en-US" sz="10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53912" y="29626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keywords — 음식 키워드</a:t>
            </a:r>
            <a:endParaRPr lang="en-US" sz="10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376672" y="3557016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376672" y="3557016"/>
            <a:ext cx="640080" cy="11887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" name="Text 36"/>
          <p:cNvSpPr/>
          <p:nvPr/>
        </p:nvSpPr>
        <p:spPr>
          <a:xfrm>
            <a:off x="5495544" y="40325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🏃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153912" y="36484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53912" y="39837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message — 활동 추천 문구</a:t>
            </a:r>
            <a:endParaRPr lang="en-US" sz="10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53912" y="42123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keywords — 활동 목록</a:t>
            </a:r>
            <a:endParaRPr lang="en-US" sz="10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153912" y="44409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type — indoor / outdoor</a:t>
            </a:r>
            <a:endParaRPr lang="en-US" sz="10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9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C3A021-7D06-3FF3-B946-78155BFA750A}"/>
              </a:ext>
            </a:extLst>
          </p:cNvPr>
          <p:cNvSpPr txBox="1"/>
          <p:nvPr/>
        </p:nvSpPr>
        <p:spPr>
          <a:xfrm>
            <a:off x="347472" y="1370926"/>
            <a:ext cx="4606290" cy="3109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weatherData</a:t>
            </a:r>
            <a:r>
              <a:rPr lang="en-US" altLang="ko-KR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sunny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altLang="ko-KR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title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맑은 날 추천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ko-KR" alt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fashion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반팔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선글라스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],</a:t>
            </a:r>
            <a:endParaRPr lang="ko-KR" alt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food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샐러드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아이스커피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],</a:t>
            </a:r>
            <a:endParaRPr lang="ko-KR" alt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activity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산책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피크닉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</a:t>
            </a:r>
            <a:endParaRPr lang="ko-KR" alt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cloudy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US" altLang="ko-KR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rainy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US" altLang="ko-KR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snowy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</a:t>
            </a:r>
            <a:endParaRPr lang="en-US" altLang="ko-KR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 1  ·  5개 페이지 구성</a:t>
            </a:r>
            <a:endParaRPr 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01168" y="960120"/>
            <a:ext cx="4206240" cy="64008"/>
          </a:xfrm>
          <a:prstGeom prst="rect">
            <a:avLst/>
          </a:prstGeom>
          <a:solidFill>
            <a:srgbClr val="16162A"/>
          </a:solidFill>
          <a:ln w="12700">
            <a:solidFill>
              <a:srgbClr val="1616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84048" y="1124712"/>
            <a:ext cx="475488" cy="411480"/>
          </a:xfrm>
          <a:prstGeom prst="hexagon">
            <a:avLst/>
          </a:prstGeom>
          <a:solidFill>
            <a:srgbClr val="000000"/>
          </a:solidFill>
          <a:ln w="19050">
            <a:solidFill>
              <a:srgbClr val="1616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84048" y="112471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>
                    <a:lumMod val="8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78408" y="1143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16459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날씨 선택 버튼 4개 (WeatherSelector)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19659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날씨에 따라 추천 콘텐츠 즉시 변경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OOTD · Food · Activity </a:t>
            </a:r>
            <a:r>
              <a:rPr lang="ko-KR" altLang="en-US" sz="11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프리뷰 섹션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36008" y="96012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36008" y="960120"/>
            <a:ext cx="4206240" cy="64008"/>
          </a:xfrm>
          <a:prstGeom prst="rect">
            <a:avLst/>
          </a:prstGeom>
          <a:solidFill>
            <a:srgbClr val="C89200"/>
          </a:solidFill>
          <a:ln w="12700">
            <a:solidFill>
              <a:srgbClr val="C89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818888" y="1124712"/>
            <a:ext cx="475488" cy="411480"/>
          </a:xfrm>
          <a:prstGeom prst="hexagon">
            <a:avLst/>
          </a:prstGeom>
          <a:solidFill>
            <a:srgbClr val="000000"/>
          </a:solidFill>
          <a:ln w="19050">
            <a:solidFill>
              <a:srgbClr val="C892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18888" y="1124712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13248" y="1143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16459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날씨 기반 스타일 추천 메시지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19659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추천 스타일 키워드 태그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22860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우산·아우터 등 준비물 뱃지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1168" y="2834640"/>
            <a:ext cx="2798064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01168" y="2834640"/>
            <a:ext cx="2798064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84048" y="2999232"/>
            <a:ext cx="457200" cy="393192"/>
          </a:xfrm>
          <a:prstGeom prst="hexagon">
            <a:avLst/>
          </a:prstGeom>
          <a:solidFill>
            <a:srgbClr val="000000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84048" y="2999232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0976" y="301752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3493008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날씨 기반 음식 큐레이션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89534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비 → 파전, 눈 → 국물요리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2976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[기말] 위치 기반 맛집 리스트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63824" y="2834640"/>
            <a:ext cx="2798064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163824" y="2834640"/>
            <a:ext cx="2798064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346704" y="2999232"/>
            <a:ext cx="457200" cy="393192"/>
          </a:xfrm>
          <a:prstGeom prst="hexagon">
            <a:avLst/>
          </a:prstGeom>
          <a:solidFill>
            <a:srgbClr val="000000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346704" y="2999232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913632" y="301752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28416" y="3493008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실내/실외 활동 제안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28416" y="389534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날씨에 맞는 활동 카드 목록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28416" y="42976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[기말] 실제 장소 API 연동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2834640"/>
            <a:ext cx="2798064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126480" y="2834640"/>
            <a:ext cx="2798064" cy="64008"/>
          </a:xfrm>
          <a:prstGeom prst="rect">
            <a:avLst/>
          </a:prstGeom>
          <a:solidFill>
            <a:srgbClr val="565675"/>
          </a:solidFill>
          <a:ln w="12700">
            <a:solidFill>
              <a:srgbClr val="5656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309360" y="2999232"/>
            <a:ext cx="457200" cy="393192"/>
          </a:xfrm>
          <a:prstGeom prst="hexagon">
            <a:avLst/>
          </a:prstGeom>
          <a:solidFill>
            <a:srgbClr val="000000"/>
          </a:solidFill>
          <a:ln w="19050">
            <a:solidFill>
              <a:srgbClr val="5656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309360" y="2999232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656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76288" y="301752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91072" y="3493008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 err="1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소개</a:t>
            </a: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및 </a:t>
            </a:r>
            <a:r>
              <a:rPr lang="en-US" sz="1100" dirty="0" err="1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</a:t>
            </a: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91072" y="389534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사용 API · 라이브러리 목록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91072" y="429768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기술 흐름 다이어그램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27432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0" dirty="0"/>
          </a:p>
        </p:txBody>
      </p:sp>
      <p:sp>
        <p:nvSpPr>
          <p:cNvPr id="4" name="Shape 2"/>
          <p:cNvSpPr/>
          <p:nvPr/>
        </p:nvSpPr>
        <p:spPr>
          <a:xfrm>
            <a:off x="201168" y="384048"/>
            <a:ext cx="658368" cy="566928"/>
          </a:xfrm>
          <a:prstGeom prst="hexagon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01168" y="384048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43891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3AC8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PHASE 2  /  기말고사</a:t>
            </a:r>
            <a:endParaRPr lang="en-US" sz="13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" y="111556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Module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201168" y="226771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675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외부 API 연동 · 7일 날짜 버튼 · 위치 기반 추천으로 확장</a:t>
            </a:r>
            <a:endParaRPr 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1168" y="2788920"/>
            <a:ext cx="320040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01168" y="3035808"/>
            <a:ext cx="1078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01168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08176" y="3035808"/>
            <a:ext cx="1078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408176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15184" y="3035808"/>
            <a:ext cx="1078992" cy="804672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615184" y="3035808"/>
            <a:ext cx="1078992" cy="64008"/>
          </a:xfrm>
          <a:prstGeom prst="rect">
            <a:avLst/>
          </a:prstGeom>
          <a:solidFill>
            <a:srgbClr val="BABFF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615184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22192" y="3035808"/>
            <a:ext cx="1078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6B7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822192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8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3035808"/>
            <a:ext cx="1078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4/18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6208" y="3035808"/>
            <a:ext cx="1078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36208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4/19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43216" y="3035808"/>
            <a:ext cx="1078992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443216" y="3063240"/>
            <a:ext cx="1078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4/20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 2  ·  API </a:t>
            </a:r>
            <a:r>
              <a:rPr lang="en-US" sz="2000" b="1" dirty="0" err="1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연동</a:t>
            </a:r>
            <a:r>
              <a:rPr 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sz="2000" b="1" dirty="0" err="1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전략</a:t>
            </a:r>
            <a:r>
              <a:rPr 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기말 확장 계획</a:t>
            </a:r>
            <a:r>
              <a:rPr lang="en-US" altLang="ko-KR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874166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01168" y="960120"/>
            <a:ext cx="598932" cy="1051560"/>
          </a:xfrm>
          <a:prstGeom prst="rect">
            <a:avLst/>
          </a:prstGeom>
          <a:solidFill>
            <a:srgbClr val="FAD29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64160" y="127304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>
              <a:solidFill>
                <a:srgbClr val="F59E0B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50976" y="10332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OpenWeatherMap API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365066"/>
            <a:ext cx="8686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577840" y="136506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날씨 API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50976" y="1359408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7일 날짜별 날씨 코드 수신</a:t>
            </a:r>
            <a:endParaRPr lang="en-US" sz="9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50976" y="1551432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코드 → sunny/cloudy/rainy/snowy 매핑</a:t>
            </a:r>
            <a:endParaRPr lang="en-US" sz="9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50976" y="1743456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useWeatherForecast() 커스텀 훅으로 분리</a:t>
            </a:r>
            <a:endParaRPr lang="en-US" sz="9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1168" y="2103120"/>
            <a:ext cx="874166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01168" y="2103120"/>
            <a:ext cx="598932" cy="1051560"/>
          </a:xfrm>
          <a:prstGeom prst="rect">
            <a:avLst/>
          </a:prstGeom>
          <a:solidFill>
            <a:srgbClr val="F3A79F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64160" y="241604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>
              <a:solidFill>
                <a:srgbClr val="C0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0976" y="21762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Kakao Maps / Google Places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2508066"/>
            <a:ext cx="868680" cy="274320"/>
          </a:xfrm>
          <a:prstGeom prst="rect">
            <a:avLst/>
          </a:prstGeom>
          <a:solidFill>
            <a:srgbClr val="FEE9E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577840" y="250806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맛집 API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0976" y="2502408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현재 위치 기반 맛집 · 장소 검색</a:t>
            </a:r>
            <a:endParaRPr lang="en-US" sz="9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50976" y="2694432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카테고리 필터 (음식점/카페/공원 등)</a:t>
            </a:r>
            <a:endParaRPr lang="en-US" sz="9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50976" y="2886456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RestaurantCardList 컴포넌트에 주입</a:t>
            </a:r>
            <a:endParaRPr lang="en-US" sz="9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01168" y="3246120"/>
            <a:ext cx="874166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01168" y="3246120"/>
            <a:ext cx="598932" cy="10515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64160" y="3559048"/>
            <a:ext cx="457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950976" y="33192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 Geolocation API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577840" y="3651066"/>
            <a:ext cx="868680" cy="274320"/>
          </a:xfrm>
          <a:prstGeom prst="rect">
            <a:avLst/>
          </a:prstGeom>
          <a:solidFill>
            <a:srgbClr val="E8F8F0"/>
          </a:solidFill>
          <a:ln w="12700">
            <a:solidFill>
              <a:srgbClr val="2EB8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577840" y="365106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B8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위치 API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0976" y="3645408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위치 허용 시 좌표 자동 감지</a:t>
            </a:r>
            <a:endParaRPr lang="en-US" sz="9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50976" y="3837432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거부 시 서울(37.5665, 126.9780) 사용</a:t>
            </a:r>
            <a:endParaRPr lang="en-US" sz="9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50976" y="4029456"/>
            <a:ext cx="7818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·  navigator.geolocation.getCurrentPosition()</a:t>
            </a:r>
            <a:endParaRPr lang="en-US" sz="9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01168" y="4526280"/>
            <a:ext cx="8741664" cy="475488"/>
          </a:xfrm>
          <a:prstGeom prst="rect">
            <a:avLst/>
          </a:prstGeom>
          <a:solidFill>
            <a:srgbClr val="EBF0FF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201168" y="4526280"/>
            <a:ext cx="64008" cy="47548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384048" y="45262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62A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Phase 1 정적 데이터와 동일한 구조로 API 응답을 변환 → 기존 컴포넌트 수정 없이 </a:t>
            </a:r>
            <a:r>
              <a:rPr lang="en-US" sz="1200" b="1" dirty="0" err="1">
                <a:solidFill>
                  <a:srgbClr val="16162A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재사용</a:t>
            </a:r>
            <a:r>
              <a:rPr lang="en-US" sz="1200" b="1" dirty="0">
                <a:solidFill>
                  <a:srgbClr val="16162A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ko-KR" altLang="en-US" sz="1200" b="1" dirty="0">
                <a:solidFill>
                  <a:srgbClr val="16162A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예정</a:t>
            </a:r>
            <a:endParaRPr lang="en-US" sz="1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Phase 1 → Phase 2  ·  </a:t>
            </a:r>
            <a:r>
              <a:rPr lang="ko-KR" alt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향후 계획</a:t>
            </a:r>
            <a:r>
              <a:rPr 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?</a:t>
            </a:r>
            <a:endParaRPr 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3977640" cy="4754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01168" y="9601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 ·  중간고사 (Static)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224528" y="96012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898B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56048" y="960120"/>
            <a:ext cx="3977640" cy="47548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56048" y="9601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 ·  기말고사 (API)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" y="157276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01168" y="1572768"/>
            <a:ext cx="64008" cy="5669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7510" y="15727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4개 날씨 수동 선택 버튼</a:t>
            </a:r>
            <a:endParaRPr lang="en-US" sz="1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24528" y="157276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98B0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56048" y="157276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0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956048" y="1572768"/>
            <a:ext cx="64008" cy="56692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152390" y="15727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7일 날짜 버튼 (API 자동 생성)</a:t>
            </a:r>
            <a:endParaRPr lang="en-US" sz="1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1168" y="2231136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01168" y="2231136"/>
            <a:ext cx="64008" cy="5669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97510" y="22311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정적 데이터 weatherData.js</a:t>
            </a:r>
            <a:endParaRPr lang="en-US" sz="1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224528" y="223113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98B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56048" y="2231136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0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956048" y="2231136"/>
            <a:ext cx="64008" cy="56692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152390" y="223113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OpenWeatherMap 실시간 API</a:t>
            </a:r>
            <a:endParaRPr lang="en-US" sz="1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01168" y="2889504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01168" y="2889504"/>
            <a:ext cx="64008" cy="5669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97510" y="28895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하드코딩된 추천 콘텐츠</a:t>
            </a:r>
            <a:endParaRPr lang="en-US" sz="1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224528" y="288950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98B0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56048" y="2889504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0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956048" y="2889504"/>
            <a:ext cx="64008" cy="56692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152390" y="28895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Kakao/Google Places 위치 기반</a:t>
            </a:r>
            <a:endParaRPr lang="en-US" sz="1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01168" y="3547872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01168" y="3547872"/>
            <a:ext cx="64008" cy="5669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97510" y="35478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위치 기능 없음</a:t>
            </a:r>
            <a:endParaRPr lang="en-US" sz="1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224528" y="354787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98B0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956048" y="3547872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0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956048" y="3547872"/>
            <a:ext cx="64008" cy="56692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152390" y="35478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Geolocation </a:t>
            </a:r>
            <a:r>
              <a:rPr lang="en-US" sz="1200" b="1" dirty="0" err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현재</a:t>
            </a:r>
            <a:r>
              <a:rPr lang="en-US" sz="12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1200" b="1" dirty="0" err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위치</a:t>
            </a:r>
            <a:r>
              <a:rPr lang="en-US" sz="12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1200" b="1" dirty="0" err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자동</a:t>
            </a:r>
            <a:r>
              <a:rPr lang="en-US" sz="12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1200" b="1" dirty="0" err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감지</a:t>
            </a:r>
            <a:endParaRPr lang="en-US" sz="1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01168" y="4206240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01168" y="4206240"/>
            <a:ext cx="64008" cy="5669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97510" y="4206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컴포넌트 구조 확립</a:t>
            </a:r>
            <a:endParaRPr lang="en-US" sz="1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224528" y="42062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898B0"/>
                </a:solidFill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956048" y="4206240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BF0FF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956048" y="4206240"/>
            <a:ext cx="64008" cy="566928"/>
          </a:xfrm>
          <a:prstGeom prst="rect">
            <a:avLst/>
          </a:prstGeom>
          <a:solidFill>
            <a:srgbClr val="2D3AC8"/>
          </a:solidFill>
          <a:ln w="1270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152390" y="4206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동일</a:t>
            </a:r>
            <a:r>
              <a:rPr lang="en-US" sz="12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1200" b="1" dirty="0" err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컴포넌트</a:t>
            </a:r>
            <a:r>
              <a:rPr lang="en-US" sz="12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sz="1200" b="1" dirty="0" err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재사용</a:t>
            </a:r>
            <a:r>
              <a:rPr lang="en-US" sz="1200" b="1" dirty="0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+ API </a:t>
            </a:r>
            <a:r>
              <a:rPr lang="en-US" sz="1200" b="1" dirty="0" err="1">
                <a:solidFill>
                  <a:srgbClr val="16162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확장</a:t>
            </a:r>
            <a:endParaRPr lang="en-US" sz="1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기술 스택  ·  Tech Stack</a:t>
            </a:r>
            <a:endParaRPr 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42245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84048" y="1069848"/>
            <a:ext cx="530352" cy="457200"/>
          </a:xfrm>
          <a:prstGeom prst="hexagon">
            <a:avLst/>
          </a:prstGeom>
          <a:solidFill>
            <a:srgbClr val="000000"/>
          </a:solidFill>
          <a:ln w="19050">
            <a:solidFill>
              <a:srgbClr val="2EB8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84048" y="106984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B8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088136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Frontend</a:t>
            </a:r>
            <a:endParaRPr 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389534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02336" y="170992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React (Create React App)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2336" y="198424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React Router (페이지 라우팅)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2336" y="22585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</a:t>
            </a:r>
            <a:r>
              <a:rPr lang="en-US" sz="1000" dirty="0" err="1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UseState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2336" y="253288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CSS </a:t>
            </a:r>
            <a:r>
              <a:rPr lang="ko-KR" alt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또는 </a:t>
            </a:r>
            <a:r>
              <a:rPr lang="en-US" altLang="ko-KR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CSS </a:t>
            </a:r>
            <a:r>
              <a:rPr lang="ko-KR" alt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모듈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73168" y="960120"/>
            <a:ext cx="42245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956048" y="1069848"/>
            <a:ext cx="530352" cy="457200"/>
          </a:xfrm>
          <a:prstGeom prst="hexagon">
            <a:avLst/>
          </a:prstGeom>
          <a:solidFill>
            <a:srgbClr val="000000"/>
          </a:solidFill>
          <a:ln w="19050">
            <a:solidFill>
              <a:srgbClr val="2D3A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956048" y="106984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14416" y="1088136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API (</a:t>
            </a:r>
            <a:r>
              <a:rPr lang="ko-KR" altLang="en-US" sz="14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기말고사에 확장</a:t>
            </a:r>
            <a:r>
              <a:rPr lang="en-US" altLang="ko-KR" sz="14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37760" y="1600200"/>
            <a:ext cx="389534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74336" y="170992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OpenWeatherMap (7일 날씨)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74336" y="198424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Kakao Maps / Google Places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74336" y="2258568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Browser Geolocation API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01168" y="2990088"/>
            <a:ext cx="42245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84048" y="3099816"/>
            <a:ext cx="530352" cy="457200"/>
          </a:xfrm>
          <a:prstGeom prst="hexagon">
            <a:avLst/>
          </a:prstGeom>
          <a:solidFill>
            <a:srgbClr val="000000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84048" y="309981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42416" y="3118104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UI / 라이브러리</a:t>
            </a:r>
            <a:endParaRPr 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65760" y="3630168"/>
            <a:ext cx="389534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02336" y="37398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React Icons (아이콘)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02336" y="401421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GSAP , Anime.js (애니메이션)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02336" y="428853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Masonry </a:t>
            </a:r>
            <a:r>
              <a:rPr lang="en-US" sz="1000" dirty="0" err="1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레이아웃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02336" y="456285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Pretendard / Noto Sans KR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73168" y="2990088"/>
            <a:ext cx="422452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1270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956048" y="3099816"/>
            <a:ext cx="530352" cy="457200"/>
          </a:xfrm>
          <a:prstGeom prst="hexagon">
            <a:avLst/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956048" y="3099816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14416" y="3118104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상태 관리 흐름</a:t>
            </a:r>
            <a:endParaRPr 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937760" y="3630168"/>
            <a:ext cx="3895344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974336" y="373989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App </a:t>
            </a:r>
            <a:r>
              <a:rPr lang="ko-KR" alt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상위에서 </a:t>
            </a:r>
            <a:r>
              <a:rPr lang="en-US" sz="1000" dirty="0" err="1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weatherMode</a:t>
            </a:r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974336" y="401421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</a:t>
            </a:r>
            <a:r>
              <a:rPr lang="ko-KR" altLang="en-US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선택한 날씨에 따라 테마와 콘텐츠 변경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974336" y="4288536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Phase 2: API </a:t>
            </a:r>
            <a:r>
              <a:rPr lang="en-US" altLang="ko-KR" sz="1000" dirty="0" err="1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</a:t>
            </a:r>
            <a:r>
              <a:rPr lang="en-US" altLang="ko-KR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00" dirty="0" err="1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캐싱</a:t>
            </a:r>
            <a:r>
              <a:rPr lang="en-US" altLang="ko-KR" sz="1000" dirty="0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00" dirty="0" err="1">
                <a:solidFill>
                  <a:srgbClr val="5656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처리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5AE78-62E4-1D09-BAAA-8C6F3559D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4C10A93-E72B-2524-24FB-4E0CC24E61C4}"/>
              </a:ext>
            </a:extLst>
          </p:cNvPr>
          <p:cNvSpPr/>
          <p:nvPr/>
        </p:nvSpPr>
        <p:spPr>
          <a:xfrm>
            <a:off x="201168" y="1371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F0FF"/>
                </a:solidFill>
                <a:latin typeface="Trebuchet MS" pitchFamily="34" charset="0"/>
              </a:rPr>
              <a:t>14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962AAF-BB6F-9676-0946-83E661497273}"/>
              </a:ext>
            </a:extLst>
          </p:cNvPr>
          <p:cNvSpPr/>
          <p:nvPr/>
        </p:nvSpPr>
        <p:spPr>
          <a:xfrm>
            <a:off x="86868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6162A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레이아웃 디자인</a:t>
            </a:r>
            <a:endParaRPr 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A536E10-12E8-9E36-B717-C058865CED5E}"/>
              </a:ext>
            </a:extLst>
          </p:cNvPr>
          <p:cNvSpPr/>
          <p:nvPr/>
        </p:nvSpPr>
        <p:spPr>
          <a:xfrm>
            <a:off x="201168" y="822960"/>
            <a:ext cx="8732520" cy="22860"/>
          </a:xfrm>
          <a:prstGeom prst="rect">
            <a:avLst/>
          </a:prstGeom>
          <a:solidFill>
            <a:srgbClr val="E2E4F0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1A82E58-4E28-7DAA-0B4F-C338421D19A9}"/>
              </a:ext>
            </a:extLst>
          </p:cNvPr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</a:rPr>
              <a:t>14</a:t>
            </a:r>
            <a:endParaRPr lang="en-US" sz="9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FDA5E92-B50D-0EBB-5A01-071D66141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965" y="1438273"/>
            <a:ext cx="1265040" cy="3522345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A2BCB149-809E-6B45-25EF-492A35358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501" y="1438275"/>
            <a:ext cx="1265040" cy="3522345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96FD6FE9-8D9D-E62E-F7DD-A1AB5A3E49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289" y="1438275"/>
            <a:ext cx="1265040" cy="3522345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5B76047-E1DE-6C64-DAD8-72A579B41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6837" y="1438274"/>
            <a:ext cx="1265040" cy="352234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2C361C6-AFFF-2258-1366-9569E2DAB571}"/>
              </a:ext>
            </a:extLst>
          </p:cNvPr>
          <p:cNvSpPr txBox="1"/>
          <p:nvPr/>
        </p:nvSpPr>
        <p:spPr>
          <a:xfrm>
            <a:off x="544068" y="1063853"/>
            <a:ext cx="4608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400" dirty="0" err="1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ClassName</a:t>
            </a:r>
            <a:r>
              <a:rPr lang="en-US" altLang="ko-KR" sz="14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ko-KR" altLang="en-US" sz="1400" dirty="0">
                <a:solidFill>
                  <a:srgbClr val="565675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기반 홈페이지 테마 전체변경</a:t>
            </a:r>
            <a:endParaRPr lang="en-US" altLang="ko-KR" sz="14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4AB67D-12A1-3617-FB05-C370B1B7F3BC}"/>
              </a:ext>
            </a:extLst>
          </p:cNvPr>
          <p:cNvSpPr txBox="1"/>
          <p:nvPr/>
        </p:nvSpPr>
        <p:spPr>
          <a:xfrm>
            <a:off x="4314469" y="1062364"/>
            <a:ext cx="19165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4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7</a:t>
            </a:r>
            <a:r>
              <a:rPr lang="ko-KR" altLang="en-US" sz="14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주일 날짜별 로드 </a:t>
            </a:r>
            <a:r>
              <a:rPr lang="en-US" altLang="ko-KR" sz="14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(</a:t>
            </a:r>
            <a:r>
              <a:rPr lang="ko-KR" altLang="en-US" sz="14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기말</a:t>
            </a:r>
            <a:r>
              <a:rPr lang="en-US" altLang="ko-KR" sz="14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B17C48-0611-6D07-CFE1-08EB6F3F1761}"/>
              </a:ext>
            </a:extLst>
          </p:cNvPr>
          <p:cNvSpPr txBox="1"/>
          <p:nvPr/>
        </p:nvSpPr>
        <p:spPr>
          <a:xfrm>
            <a:off x="6815952" y="1060875"/>
            <a:ext cx="19165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14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상세페이지 레이아웃</a:t>
            </a:r>
            <a:endParaRPr lang="en-US" altLang="ko-KR" sz="14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9570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2770632"/>
          </a:xfrm>
          <a:prstGeom prst="hexagon">
            <a:avLst/>
          </a:prstGeom>
          <a:solidFill>
            <a:srgbClr val="3A48D8"/>
          </a:solidFill>
          <a:ln w="19050">
            <a:solidFill>
              <a:srgbClr val="3A4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772400" y="1371600"/>
            <a:ext cx="1828800" cy="1581912"/>
          </a:xfrm>
          <a:prstGeom prst="hexagon">
            <a:avLst/>
          </a:prstGeom>
          <a:solidFill>
            <a:srgbClr val="2230B8"/>
          </a:solidFill>
          <a:ln w="19050">
            <a:solidFill>
              <a:srgbClr val="2230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708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84124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Up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228600" y="1810512"/>
            <a:ext cx="1645920" cy="365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>
              <a:highlight>
                <a:srgbClr val="00FF00"/>
              </a:highlight>
            </a:endParaRPr>
          </a:p>
        </p:txBody>
      </p:sp>
      <p:sp>
        <p:nvSpPr>
          <p:cNvPr id="9" name="Text 7"/>
          <p:cNvSpPr/>
          <p:nvPr/>
        </p:nvSpPr>
        <p:spPr>
          <a:xfrm>
            <a:off x="228600" y="1938528"/>
            <a:ext cx="6858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AAFF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날씨 정보  ×  시각적 테마 전환  ×  라이프스타일 큐레이션</a:t>
            </a:r>
            <a:endParaRPr lang="en-US" sz="14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AAFF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세 가지를 결합한 경험 중심 인터랙티브 웹 서비스</a:t>
            </a:r>
            <a:endParaRPr lang="en-US" sz="14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8600" y="3035808"/>
            <a:ext cx="987552" cy="502920"/>
          </a:xfrm>
          <a:prstGeom prst="rect">
            <a:avLst/>
          </a:prstGeom>
          <a:solidFill>
            <a:srgbClr val="2D3AC8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28600" y="303580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25880" y="303580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F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테마 클래스 시스템 + 컴포넌트 구조 + 정적 데이터 완성</a:t>
            </a:r>
            <a:endParaRPr lang="en-US" sz="13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8600" y="3721608"/>
            <a:ext cx="987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28600" y="372160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A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72160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8FF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API 연동 + 7일 예보 + 위치 기반 추천으로 확장</a:t>
            </a:r>
            <a:endParaRPr lang="en-US" sz="13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32520" y="4754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98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1115</Words>
  <Application>Microsoft Office PowerPoint</Application>
  <PresentationFormat>화면 슬라이드 쇼(16:9)</PresentationFormat>
  <Paragraphs>315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Pretendard</vt:lpstr>
      <vt:lpstr>Pretendard ExtraBold</vt:lpstr>
      <vt:lpstr>Pretendard ExtraLight</vt:lpstr>
      <vt:lpstr>Pretendard SemiBold</vt:lpstr>
      <vt:lpstr>Arial</vt:lpstr>
      <vt:lpstr>Calibri</vt:lpstr>
      <vt:lpstr>Consolas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Mode</dc:title>
  <dc:subject>PptxGenJS Presentation</dc:subject>
  <dc:creator>PptxGenJS</dc:creator>
  <cp:lastModifiedBy>기상 유</cp:lastModifiedBy>
  <cp:revision>6</cp:revision>
  <dcterms:created xsi:type="dcterms:W3CDTF">2026-04-14T07:34:53Z</dcterms:created>
  <dcterms:modified xsi:type="dcterms:W3CDTF">2026-04-14T09:37:50Z</dcterms:modified>
</cp:coreProperties>
</file>